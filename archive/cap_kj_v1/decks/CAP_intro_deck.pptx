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— Capital Allocation Pathway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넷제로 경로 자본배분의 재무적 효율성을 측정하는 도구  ·  PLANiT Institute  ·  2026. 8.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CAP인가 — 질문을 바꾼다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전환비용의 '크기'가 아니라 '분포와 대응 수단'을 측정한다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— Capital Allocation Pathway · PLANiT Institute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넷제로 경로에는 막대한 전환 CAPEX가 필요하지만, 투자자에게는 개별 기업의 전환 계획이 재무적으로 효율적인지 판단할 언어가 없다. 총비용 추정치는 가정 하나에 수십 % 움직이고, 그 불확실성은 각주로 밀려난다. CAP은 측정 대상을 비용의 크기에서 비용의 분포로 옮긴다.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7EFEF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접근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“전환비용이 얼마인가”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26700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총비용·cost-gap 추정. 가격·기술 불확실성은 시나리오 각주로 처리되고, 기업의 대응 수단은 계산 밖에 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3E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882896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82896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“무엇에 얼마나 흔들리며, 줄일 수단은 있는가”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82896" y="26700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분포(P50)와 전환비용위험 TCaR(P90−P50), 그리고 계약·유연성으로 그 위험을 줄이는 수단의 가치를 원화로 계량한다.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0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703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대상 4사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POSCO · Nippon Steel (철강)   |   LOTTE Chemical · Mitsui Chemicals (석유화학)  —  한·일 hard-to-abate 섹터 비교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만드나 — 3단계 논리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시나리오는 제약만 주고, 결정은 시설이 하고, 위험은 분포로 잰다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— Capital Allocation Pathway · PLANiT Institute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제약만 내려받는다 — 감축량 안분 금지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1848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NGFS-GCAM 시나리오에서 섹터 탄소예산과 에너지 가격·기술 가용성 경로만 추출한다. 누가 언제 감축할지는 시설 단위 MILP 최적화가 결정하며, 고로 개수 창 등 설비 재투자 주기가 투자 타이밍을 내생적으로 결정한다.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불확실성을 원화로 잰다 — P50과 TCaR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68833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전력·수소·CAPEX 3개 가격의 상관 몬테카를로 경로 5,000개에 각 투자계획을 통과시켜 비용 분포를 얻는다. P50 = 기대 전환비용, TCaR = P90−P50. 이력이 없는 수소가격은 수소 = f(전력가격, 전해조 CAPEX) 구조식으로 파생한다.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384048" cy="384048"/>
          </a:xfrm>
          <a:prstGeom prst="ellipse">
            <a:avLst/>
          </a:prstGeom>
          <a:solidFill>
            <a:srgbClr val="7A3BA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4472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내 효율 경계를 그린다 — frontier gap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75818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기업이 선택 가능한 계획 전체를 (기대비용, TCaR) 평면에 놓고 ε-constraint로 효율 경계를 추적한다. 공시된 현재 계획과 경계 사이의 거리(frontier gap)가 진단 결과다. 기업 간 순위표는 만들지 않는다 — 진단은 기업 내부에서 완결된다.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산출 — 기업당 지표 5개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지표는 gross / net-of-support, 1.5°C / 2.0°C 병기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— Capital Allocation Pathway · PLANiT Institute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형태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답하는 질문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정합 CAPEX 소요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경로 정합에 필요한 투자액과 시점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십억원, 연도별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얼마가, 언제 필요한가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② 기대 전환비용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 분포의 P50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천원/tCO₂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평균적으로 얼마가 드는가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③ TCaR와 요인 분해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P90−P50 + 수소·전력·CAPEX 분산 기여율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천원/tCO₂,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무엇에 얼마나 흔들리는가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④ 정책 불확실성 노출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1.5°C와 2.0°C 산출값의 차이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지표별 차분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정책 강도에 얼마나 걸려 있는가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⑤ 유연성 가치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계획 고정 비용 − 상황별 재최적화 비용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천원/tCO₂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대응 여지가 얼마짜리인가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5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BF0D9"/>
          </a:solidFill>
          <a:ln/>
        </p:spPr>
      </p:sp>
      <p:sp>
        <p:nvSpPr>
          <p:cNvPr id="8" name="Text 5"/>
          <p:cNvSpPr/>
          <p:nvPr/>
        </p:nvSpPr>
        <p:spPr>
          <a:xfrm>
            <a:off x="676656" y="3383280"/>
            <a:ext cx="7818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읽는 법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①이 규모, ②가 수준, ③이 위험, ④가 정책 민감도, ⑤가 옵션 가치다. 다섯 개가 함께 있어야 '전환 계획이 재무적으로 효율적인가'라는 질문에 답이 된다 — 어느 하나만 떼면 기존 총비용 추정과 다르지 않다.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 단위: 기업. 시설 단위 결과는 비공개(기업·정책 engagement 전용) — 공개물은 기업 집계 지표와 frontier·gap 차트로 한정.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데이터는 이렇게 가져온다 — D1–D7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보고·규제 검증값 우선, 모든 값에 출처와 수집일을 기록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— Capital Allocation Pathway · PLANiT Institute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074920" cy="402336"/>
          </a:xfrm>
          <a:prstGeom prst="roundRect">
            <a:avLst>
              <a:gd name="adj" fmla="val 13636"/>
            </a:avLst>
          </a:prstGeom>
          <a:solidFill>
            <a:srgbClr val="F6F9FB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" y="12070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 </a:t>
            </a:r>
            <a:pPr indent="0" marL="0">
              <a:buNone/>
            </a:pPr>
            <a:r>
              <a:rPr lang="en-US" sz="95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시설 마스터 —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단위 속성·가동 이력 + 재투자 창(전환 의사결정 연도)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5074920" cy="402336"/>
          </a:xfrm>
          <a:prstGeom prst="roundRect">
            <a:avLst>
              <a:gd name="adj" fmla="val 13636"/>
            </a:avLst>
          </a:prstGeom>
          <a:solidFill>
            <a:srgbClr val="F0F6FA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6642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 </a:t>
            </a:r>
            <a:pPr indent="0" marL="0">
              <a:buNone/>
            </a:pPr>
            <a:r>
              <a:rPr lang="en-US" sz="95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제약 —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NGFS Phase 5 GCAM 6.0 — 섹터 탄소예산·가격 경로 (GCAM-KAIST 협력)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5074920" cy="402336"/>
          </a:xfrm>
          <a:prstGeom prst="roundRect">
            <a:avLst>
              <a:gd name="adj" fmla="val 13636"/>
            </a:avLst>
          </a:prstGeom>
          <a:solidFill>
            <a:srgbClr val="F6F9FB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21214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 </a:t>
            </a:r>
            <a:pPr indent="0" marL="0">
              <a:buNone/>
            </a:pPr>
            <a:r>
              <a:rPr lang="en-US" sz="95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비용 —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EAF·수소환원·CCUS·전기분해로 등 전환 옵션 CAPEX/OPEX 원단위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5074920" cy="402336"/>
          </a:xfrm>
          <a:prstGeom prst="roundRect">
            <a:avLst>
              <a:gd name="adj" fmla="val 13636"/>
            </a:avLst>
          </a:prstGeom>
          <a:solidFill>
            <a:srgbClr val="F0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5786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  </a:t>
            </a:r>
            <a:pPr indent="0" marL="0">
              <a:buNone/>
            </a:pPr>
            <a:r>
              <a:rPr lang="en-US" sz="95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 이력 —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SMP·KAU·건설공사비지수 등 월별 10년+ — 변동성·상관 캘리브레이션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5074920" cy="402336"/>
          </a:xfrm>
          <a:prstGeom prst="roundRect">
            <a:avLst>
              <a:gd name="adj" fmla="val 13636"/>
            </a:avLst>
          </a:prstGeom>
          <a:solidFill>
            <a:srgbClr val="F6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30358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  </a:t>
            </a:r>
            <a:pPr indent="0" marL="0">
              <a:buNone/>
            </a:pPr>
            <a:r>
              <a:rPr lang="en-US" sz="95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정책지원 —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보조금·CCfD·세액공제 — gross/net-of-support 병산용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5074920" cy="402336"/>
          </a:xfrm>
          <a:prstGeom prst="roundRect">
            <a:avLst>
              <a:gd name="adj" fmla="val 13636"/>
            </a:avLst>
          </a:prstGeom>
          <a:solidFill>
            <a:srgbClr val="F0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34930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  </a:t>
            </a:r>
            <a:pPr indent="0" marL="0">
              <a:buNone/>
            </a:pPr>
            <a:r>
              <a:rPr lang="en-US" sz="95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재무 —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DART·유가증권보고서 — 조달 여력 대조용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950208"/>
            <a:ext cx="5074920" cy="402336"/>
          </a:xfrm>
          <a:prstGeom prst="roundRect">
            <a:avLst>
              <a:gd name="adj" fmla="val 13636"/>
            </a:avLst>
          </a:prstGeom>
          <a:solidFill>
            <a:srgbClr val="F6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" y="39502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 </a:t>
            </a:r>
            <a:pPr indent="0" marL="0">
              <a:buNone/>
            </a:pPr>
            <a:r>
              <a:rPr lang="en-US" sz="95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공시 계획 —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기술·시기·계약 공시의 좌표화 → frontier gap 입력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15000" y="1207008"/>
            <a:ext cx="2971800" cy="3163824"/>
          </a:xfrm>
          <a:prstGeom prst="roundRect">
            <a:avLst>
              <a:gd name="adj" fmla="val 1846"/>
            </a:avLst>
          </a:prstGeom>
          <a:solidFill>
            <a:srgbClr val="E8F8F4"/>
          </a:solidFill>
          <a:ln/>
        </p:spPr>
      </p:sp>
      <p:sp>
        <p:nvSpPr>
          <p:cNvPr id="21" name="Text 19"/>
          <p:cNvSpPr/>
          <p:nvPr/>
        </p:nvSpPr>
        <p:spPr>
          <a:xfrm>
            <a:off x="5916168" y="1371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규약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16168" y="1700784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검증값 우선 — 배출량은 GIR/NGMS·EEGS 검증치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값을 source_register에 출처·수집일·라이선스와 함께 기록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KRW 실질 2025년 기준으로 통화·물가 통일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추정치는 EST_* 접두로 관측값과 구분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난수 seed 고정 — 전 결과 재현 가능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최종 출처: GCAM-KAIST(KAIST 엄지용 교수 연구팀) 산출물 수령 예정 — 수령 전에는 NGFS 공개 DB 잠정치로 구조 우선 구축.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엔진 — 데이터에서 진단까지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단계는 CSV 입력 → CSV/Parquet 출력으로 완결되어 독립 검증 가능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— Capital Allocation Pathway · PLANiT Institute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371600" cy="1051560"/>
          </a:xfrm>
          <a:prstGeom prst="roundRect">
            <a:avLst>
              <a:gd name="adj" fmla="val 5217"/>
            </a:avLst>
          </a:prstGeom>
          <a:solidFill>
            <a:srgbClr val="F0F6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45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D1–D7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379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(엑셀 → CSV)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12848" y="1417320"/>
            <a:ext cx="950976" cy="1051560"/>
          </a:xfrm>
          <a:prstGeom prst="roundRect">
            <a:avLst>
              <a:gd name="adj" fmla="val 4808"/>
            </a:avLst>
          </a:prstGeom>
          <a:solidFill>
            <a:srgbClr val="1A2D3D"/>
          </a:solidFill>
          <a:ln/>
        </p:spPr>
      </p:sp>
      <p:sp>
        <p:nvSpPr>
          <p:cNvPr id="10" name="Text 8"/>
          <p:cNvSpPr/>
          <p:nvPr/>
        </p:nvSpPr>
        <p:spPr>
          <a:xfrm>
            <a:off x="2212848" y="152704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12848" y="1801368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추출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950976" cy="1051560"/>
          </a:xfrm>
          <a:prstGeom prst="roundRect">
            <a:avLst>
              <a:gd name="adj" fmla="val 4808"/>
            </a:avLst>
          </a:prstGeom>
          <a:solidFill>
            <a:srgbClr val="1A2D3D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52704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801368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시설 MILP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경계 추적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70832" y="1417320"/>
            <a:ext cx="950976" cy="1051560"/>
          </a:xfrm>
          <a:prstGeom prst="roundRect">
            <a:avLst>
              <a:gd name="adj" fmla="val 4808"/>
            </a:avLst>
          </a:prstGeom>
          <a:solidFill>
            <a:srgbClr val="1A2D3D"/>
          </a:solidFill>
          <a:ln/>
        </p:spPr>
      </p:sp>
      <p:sp>
        <p:nvSpPr>
          <p:cNvPr id="16" name="Text 14"/>
          <p:cNvSpPr/>
          <p:nvPr/>
        </p:nvSpPr>
        <p:spPr>
          <a:xfrm>
            <a:off x="4370832" y="152704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70832" y="1801368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 가격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몬테카를로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49824" y="1417320"/>
            <a:ext cx="950976" cy="1051560"/>
          </a:xfrm>
          <a:prstGeom prst="roundRect">
            <a:avLst>
              <a:gd name="adj" fmla="val 4808"/>
            </a:avLst>
          </a:prstGeom>
          <a:solidFill>
            <a:srgbClr val="1A2D3D"/>
          </a:solidFill>
          <a:ln/>
        </p:spPr>
      </p:sp>
      <p:sp>
        <p:nvSpPr>
          <p:cNvPr id="19" name="Text 17"/>
          <p:cNvSpPr/>
          <p:nvPr/>
        </p:nvSpPr>
        <p:spPr>
          <a:xfrm>
            <a:off x="5449824" y="152704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9824" y="1801368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재평가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28816" y="1417320"/>
            <a:ext cx="950976" cy="1051560"/>
          </a:xfrm>
          <a:prstGeom prst="roundRect">
            <a:avLst>
              <a:gd name="adj" fmla="val 4808"/>
            </a:avLst>
          </a:prstGeom>
          <a:solidFill>
            <a:srgbClr val="1A2D3D"/>
          </a:solidFill>
          <a:ln/>
        </p:spPr>
      </p:sp>
      <p:sp>
        <p:nvSpPr>
          <p:cNvPr id="22" name="Text 20"/>
          <p:cNvSpPr/>
          <p:nvPr/>
        </p:nvSpPr>
        <p:spPr>
          <a:xfrm>
            <a:off x="6528816" y="152704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28816" y="1801368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지표·경계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·gap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26680" y="1417320"/>
            <a:ext cx="960120" cy="1051560"/>
          </a:xfrm>
          <a:prstGeom prst="roundRect">
            <a:avLst>
              <a:gd name="adj" fmla="val 5714"/>
            </a:avLst>
          </a:prstGeom>
          <a:solidFill>
            <a:srgbClr val="F3EDF8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15453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26680" y="183794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렌더링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10512" y="18882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27248" y="18882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06240" y="18882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85232" y="18882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64224" y="18882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43216" y="18882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탄소예산·가격 경로만 필터(안분 금지)   </a:t>
            </a:r>
            <a:pPr indent="0" marL="0">
              <a:buNone/>
            </a:pPr>
            <a:r>
              <a:rPr lang="en-US" sz="10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재투자 창 제약의 NPV 최소화, ε-constraint로 계획 10–15개   </a:t>
            </a:r>
            <a:pPr indent="0" marL="0">
              <a:buNone/>
            </a:pPr>
            <a:r>
              <a:rPr lang="en-US" sz="10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 몬테카를로 N=5,000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0998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E4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계획×가격경로×지원시나리오 재평가 — 고정형 vs 재최적화형의 차이가 ⑤ 유연성 가치   </a:t>
            </a:r>
            <a:pPr indent="0" marL="0">
              <a:buNone/>
            </a:pPr>
            <a:r>
              <a:rPr lang="en-US" sz="10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E5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P50·TCaR·분해·frontier·gap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2679192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" y="36118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경계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방법론·학술 공개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64408" y="3611880"/>
            <a:ext cx="2679192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/>
        </p:spPr>
      </p:sp>
      <p:sp>
        <p:nvSpPr>
          <p:cNvPr id="38" name="Text 36"/>
          <p:cNvSpPr/>
          <p:nvPr/>
        </p:nvSpPr>
        <p:spPr>
          <a:xfrm>
            <a:off x="3410712" y="36118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시설 경계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비공개 — 기업·정책 engagement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71616" y="3611880"/>
            <a:ext cx="2679192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36118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경계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— 투자자용 지표 ①–⑤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결과물 ① — 효율 경계와 frontier gap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진단의 핵심 차트: 계획이 경계에서 얼마나 떨어져 있는가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— Capital Allocation Pathway · PLANiT Institute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  <p:pic>
        <p:nvPicPr>
          <p:cNvPr id="6" name="Image 0" descr="frontier_POSCO_NZ15_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70432"/>
            <a:ext cx="4114800" cy="2935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280160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곡선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같은 기업이 선택 가능한 투자계획 전체 중 (기대비용, TCaR) 기준으로 효율적인 집합. 비용을 더 내면 위험을 줄일 수 있는 교환비가 곡선의 기울기다.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공시된 현재 계획의 좌표. 공시 해상도가 낮으면 구간으로 처리한다.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같은 위험 수준에서 줄일 수 있는 기대비용, 또는 같은 비용에서 줄일 수 있는 TCaR. 순위표가 아니라 기업 내부에서 완결되는 진단이므로, engagement 대화의 출발점이 된다.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차트는 합성 샘플 데이터 산출 예시 — 실제 기업 값이 아님. 파이프라인 검증용 출력(out/render).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결과물 ② — 비용 분포와 위험의 해부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P50·TCaR·요인 분해·유연성 가치가 한 분포에서 나온다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— Capital Allocation Pathway · PLANiT Institute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  <p:pic>
        <p:nvPicPr>
          <p:cNvPr id="6" name="Image 0" descr="dist_POS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023360" cy="2295144"/>
          </a:xfrm>
          <a:prstGeom prst="rect">
            <a:avLst/>
          </a:prstGeom>
        </p:spPr>
      </p:pic>
      <p:pic>
        <p:nvPicPr>
          <p:cNvPr id="7" name="Image 1" descr="decomp_POSCO_NZ15_cur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34440"/>
            <a:ext cx="4023360" cy="2011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36576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— 비용 분포.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5,000개 가격 경로에서 얻은 총 전환비용 분포. P50이 ② 기대비용, P90−P50이 ③ TCaR. 지원수단 반영 전(gross)/후(net) 병산.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63440" y="36576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오른쪽 — TCaR 요인 분해.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수소·전력·CAPEX가 각각 흔들림의 몇 %를 만드는지. 투자자 독법: 어떤 요인이 PPA·CCfD·EPC 고정가로 헤지 가능한지, ⑤ 유연성 가치가 얼마인지.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차트는 합성 샘플 데이터 산출 예시 — 실제 기업 값이 아님.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로드맵 — 진단 도구에서 시장 언어로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파일럿 → 2027 확장 → 2028 가격결정(Stage 2)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— Capital Allocation Pathway · PLANiT Institute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0F6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904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1년차 · 2026H2–2027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4사 파일럿 완성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실데이터 D1–D7 완비, GCAM-KAIST 시나리오 반영</a:t>
            </a:r>
            <a:endParaRPr lang="en-US" sz="10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지표 ①–⑤ 첫 산출·공표</a:t>
            </a:r>
            <a:endParaRPr lang="en-US" sz="10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 문서·코드 공개 (시설 단위 제외)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32588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0F6FA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4904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2년차 · 2027–2028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47288" y="17556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커버리지·활용 확장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212140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시멘트·정유 등 hard-to-abate 섹터, 기업 수 확대</a:t>
            </a:r>
            <a:endParaRPr lang="en-US" sz="10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시설 경계 기반 기업·정책 engagement 제품화</a:t>
            </a:r>
            <a:endParaRPr lang="en-US" sz="10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gap 연차 추적 — 계획 개선의 시계열 증거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132588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3E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14904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3년차 · 2028–2029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54496" y="17556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가격결정 단계 (Stage 2)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54496" y="212140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βₖ×λₖ 증거 기반 전환리스크 프리미엄 추정</a:t>
            </a:r>
            <a:endParaRPr lang="en-US" sz="10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TCaR의 공시·투자 프로세스 표준 지표화</a:t>
            </a:r>
            <a:endParaRPr lang="en-US" sz="10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자본비용과 전환 효율을 잇는 실증 연구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진입 조건(ADR-003): 시장가격·계약·실현 FID 증거 수집 전에는 priced premium(bps)을 산출하지 않음 — 현 단계는 exposure만 보고.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중요한가 — 하나의 진단, 세 명의 독자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넷제로 자본배분 효율성의 공통 언어를 만든다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— Capital Allocation Pathway · PLANiT Institute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44168"/>
            <a:ext cx="146304" cy="146304"/>
          </a:xfrm>
          <a:prstGeom prst="ellipse">
            <a:avLst/>
          </a:prstGeom>
          <a:solidFill>
            <a:srgbClr val="02594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기업에게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128016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gap은 추상적 압박이 아니라 이사회가 승인할 수 있는 구체적 수단(재투자 창 활용, PPA·CCfD·EPC 계약)의 원화 가치다. 무엇을 바꾸면 경계에 닿는지가 계획 단위로 보인다.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146304" cy="146304"/>
          </a:xfrm>
          <a:prstGeom prst="ellipse">
            <a:avLst/>
          </a:prstGeom>
          <a:solidFill>
            <a:srgbClr val="7A3BA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투자자에게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2212848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전환리스크가 '언젠가 큰 비용'이라는 서사에서 측정된 exposure로 바뀐다. 같은 감축을 더 낮은 (비용, 위험) 조합으로 달성하는 계획으로 자본이 흐르게 하는 스크리닝·engagement 기준.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9544"/>
            <a:ext cx="146304" cy="146304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정책에게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48840" y="3145536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gross/net-of-support 병산은 어떤 지원수단이 어느 기업의 어떤 흔들림을 실제로 줄이는지 보여준다 — 보조금 설계를 감(感)이 아니라 분산 기여도로 할 수 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A2D3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416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자본이 가장 '싼' 감축이 아니라, 가장 효율적인 (비용, 위험) 조합으로 흐르게 한다.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상태와 알려진 한계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캐비앳이 이 도구의 신뢰 기반이다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3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— Capital Allocation Pathway · PLANiT Institute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상태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파이프라인(E1–E5·렌더링)을 합성 샘플 데이터로 검증 완료 — 스키마·검산·재현성 테스트 통과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실데이터 수집 단계: 엑셀 템플릿(D1–D7) 작성 중, 완비 전 실분석 착수 금지 원칙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자료의 차트는 전부 합성 데이터 예시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알려진 한계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572768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 가격과정은 현재 GBM — SMP류 평균회귀 시리즈는 장기 분산 과대 가능, 실데이터 캘리브레이션에서 OU 검정 후 확정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유연성 가치는 계획 집합 내 전환(plan-switching) 근사 = 하한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GCAM 섹터 해상도 부족분은 IEA·국가 로드맵으로 보완, 출처별 명시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간 순위표·priced premium(bps)은 산출하지 않음 — Stage 2 증거 게이트 통과 전까지 NA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2026-08-06T11:03:53Z</dcterms:created>
  <dcterms:modified xsi:type="dcterms:W3CDTF">2026-08-06T11:03:53Z</dcterms:modified>
</cp:coreProperties>
</file>